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problem: cataract surgery is safe until a routine case turns complex, and nothing but the surgeon's divided attention watches for that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PhacoGuard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second pair of eyes for complex cataract surgery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surgeon awareness during phacoemulsification. Locally hosted models; no clinical data leaves the hospital.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BeyondVision MNGHA Hackathon 2026   |   Theme: Eye Care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when a routine cataract turns complex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0"/>
            <a:ext cx="65836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 is the leading cause of blindness worldwide</a:t>
            </a:r>
            <a:r>
              <a:rPr lang="en-US" sz="15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cataract surgery exceeds 26 million procedures a year</a:t>
            </a:r>
            <a:r>
              <a:rPr lang="en-US" sz="15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capsule rupture (PCR) is the most feared complication: vitreous loss, dropped nucleus, second surgery, worse vision</a:t>
            </a:r>
            <a:r>
              <a:rPr lang="en-US" sz="15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registries report PCR in about 1 to 2% of cases (UK Cataract National Dataset 1.92%; NOD 2021-22 0.87%)</a:t>
            </a:r>
            <a:r>
              <a:rPr lang="en-US" sz="15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[3][4]</a:t>
            </a: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concentrates in complex eyes: weak zonules, dense nuclei, small pupils</a:t>
            </a:r>
            <a:r>
              <a:rPr lang="en-US" sz="15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warning signs appear seconds to minutes before rupture, and today only the surgeon's divided attention watches for them.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46304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600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&gt;26 million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2331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 operations every year worldwide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292608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30632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1.92%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68096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or vitreous loss across 55,567 UK operations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4389120"/>
            <a:ext cx="4206240" cy="1325880"/>
          </a:xfrm>
          <a:prstGeom prst="roundRect">
            <a:avLst>
              <a:gd name="adj" fmla="val 827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4526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5257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across 3,377 eyes at a Saudi tertiary eye hospital (2019)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Cicinelli MV, et al. Cataracts. Lancet. 2023;401:377-89.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Chen X, et al. Cataract: advances in surgery. Adv Ophthalmol Pract Res. 2021;1:100008.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Narendran N, et al. Cataract National Dataset audit of 55 567 operations: PCR and vitreous loss risk. Eye. 2009;23:31-7.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Royal College of Ophthalmologists. National Cataract Audit annual report 2021-22. NOD; 2024.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Fairaq R, et al. Surgical complexity and surgeon experience in phacoemulsification outcomes: Saudi tertiary eye hospital. Front Ophthalmol. 2026;6:1882657.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Saudi Arabia: a high-complexity case mix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pseudoexfoliation among cataract candidates aged 60+ in Najran (192/681)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600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pseudoexfoliation in Riyadh primary-care eye patients (69/1,967), rising steeply after 50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2697480" cy="173736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00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2.14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317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odds of PCR or zonular dialysis with pseudoexfoliation (meta-analysis, 22 studies)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46304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0" y="1600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2.44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odds of PCR with surgical complexity at KKESH; surgeon level not independently associated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47472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Pseudoexfoliation weakens the zonules and limits pupil dilation, so the lens wobbles and the capsule tears more easily</a:t>
            </a:r>
            <a:r>
              <a:rPr lang="en-US" sz="14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brown nuclei from late presentation need long ultrasound time; brunescent or white cataract is an independent PCR risk factor</a:t>
            </a:r>
            <a:r>
              <a:rPr lang="en-US" sz="14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KKESH data show that complexity, not inexperience, drives PCR, which is exactly what a real-time complexity signal addresses</a:t>
            </a:r>
            <a:r>
              <a:rPr lang="en-US" sz="14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our knowledge, no AI system for cataract surgical video has been developed in Saudi Arabia or the Gulf; regional deployments are retinal screening tools, not surgical systems.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Narendran N, et al. Cataract National Dataset audit of 55 567 operations: PCR and vitreous loss risk. Eye. 2009;23:31-7.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Fairaq R, et al. Surgical complexity and surgeon experience in phacoemulsification outcomes: Saudi tertiary eye hospital. Front Ophthalmol. 2026;6:1882657.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Gabr AF. Pseudoexfoliation cataract: possible systemic associations. Delta J Ophthalmol. 2016;17:133-6.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Al-Saleh SA, et al. Prevalence of pseudoexfoliation syndrome in Riyadh, Saudi Arabia. Saudi Med J. 2015;36:108-12.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Vazquez-Ferreiro P, et al. Intraoperative complications of phacoemulsification in pseudoexfoliation: metaanalysis. J Cataract Refract Surg. 2016;42:1666-75.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today: research and market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systems guide routine cases or detect complications after the fact; none targets complex-case risk live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1005840"/>
                <a:gridCol w="1280160"/>
                <a:gridCol w="1005840"/>
                <a:gridCol w="109728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Complex-case markers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risk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End-of-case record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Saudi or Gulf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UIC intraoperative guidance, JAMA Ophthalmol 2022 [10]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Pupil tracking, phase recognition, safe-zone overlay; Dice 90%, 97 fps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MetaS, Zhongshan, npj Digit Med 2025 [11]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Capsulorhexis path guidance from 17,538 videos; ideal rhexis rate 16.7% to 64.1%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 flag as future 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CataractCompDetect, arXiv 2025 [12] (preprint)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iris prolapse, PCR, vitreous loss after the fact; PCR F1 0.61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Retrospective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Tongren/NUH radial-fold study, medRxiv 2026 [9] (preprint)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Task-specific detector for anterior capsule radial folds; F1 0.87, AUROC 0.96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Clip-level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marker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Tsukazaki real-time problem detection, J Clin Med 2020 [13]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phase extraction and instrument tracking with problem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planning overlays (Zeiss Callisto eye, Alcon Verion)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Toric alignment and incision marks from a pre-operative reference image; no learned intraoperative warnings (manufacturer information)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Overlay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B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PhacoGuard (this proposal)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B4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complex-case markers into a calibrated live risk band, plus a grounded end-of-case complication-risk record; fully local stack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on MNGHA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Zhang Y, et al. Task-specific vs general-purpose AI for subtle intraoperative warning signs in cataract surgery. medRxiv [Preprint]. 2026.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Garcia Nespolo R, et al. AI-based intraoperative guidance tools for phacoemulsification. JAMA Ophthalmol. 2022;140:170-7.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Chen X, et al. Digitalization of surgical features improves surgical accuracy (MetaS). NPJ Digit Med. 2025;8:497.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Sachdeva B, et al. CataractCompDetect: intraoperative complication detection in cataract surgery. arXiv [Preprint]. 2025.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Morita S, et al. Real-time surgical problem detection and instrument tracking in cataract surgery. J Clin Med. 2020;9:3896.</a:t>
            </a:r>
            <a:endParaRPr lang="en-US" sz="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three markers, one risk band, one record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1: pupil constriction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pupil area tracked every frame; a fall during phaco or cortex removal is a recognised PCR risk indicator.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80560" y="1554480"/>
            <a:ext cx="384048" cy="384048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2: capsule radial folds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Clip-level detector during capsulorhexis; radial folds are the early visible sign of weak zonules.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61188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554480"/>
            <a:ext cx="384048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23960" y="1508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3: prolonged phaco time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phaco duration against the expected distribution; the fingerprint of a dense nucleus.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520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risk band on a second monitor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331720" y="39776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3172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06240" y="397764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0624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66344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signal only, never an instruction to the surgeon. Alerts are rate-limited so nothing repeats within 30 seconds.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3520440"/>
            <a:ext cx="5257800" cy="2103120"/>
          </a:xfrm>
          <a:prstGeom prst="roundRect">
            <a:avLst>
              <a:gd name="adj" fmla="val 4348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3611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End-of-case complication-risk record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02336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locally hosted open-weight language model writes from the structured event timeline only.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the record is verified against the timeline by code.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observed markers, risk tier, suggested follow-up intensity (earlier pressure and inflammation review for high-risk eyes).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Narendran N, et al. Cataract National Dataset audit of 55 567 operations: PCR and vitreous loss risk. Eye. 2009;23:31-7.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Zhang Y, et al. Task-specific vs general-purpose AI for subtle intraoperative warning signs in cataract surgery. medRxiv [Preprint]. 2026.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microscope video to a verified record, all offline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Microscope feed or recording at 15 to 25 fps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50008" y="155448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F4F6F7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2888" y="17373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3288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532888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32888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and instruments outlined in every frame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42816" y="155448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25696" y="17373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2569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425696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Surgical step recognised from the last 20 seconds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35624" y="155448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F4F6F7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17373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1850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18504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18504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 area, capsule clips, phaco time feed three task-specific detectors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28432" y="155448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1312" y="17373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11312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11312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outputs combined, calibrated, rate-limited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921240" y="1554480"/>
            <a:ext cx="1783080" cy="2743200"/>
          </a:xfrm>
          <a:prstGeom prst="roundRect">
            <a:avLst>
              <a:gd name="adj" fmla="val 5128"/>
            </a:avLst>
          </a:prstGeom>
          <a:solidFill>
            <a:srgbClr val="F4F6F7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04120" y="1737360"/>
            <a:ext cx="502920" cy="50292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041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0104120" y="2377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104120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to JSON; language model writes; code verifies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52628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stack is open-weight and permissively licensed (Apache 2.0, MIT, BSD) and runs with the network switched off; no clinical data touches an external API, as required by the hackathon rules.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Task-specific detectors feed the language model rather than asking a general vision model to watch surgery; general-purpose models were unreliable on subtle intraoperative signs (best F1 0.52)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is observation and a risk state, never surgical guidance (hackathon rule 5.3)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</a:t>
            </a: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Zhang Y, et al. Task-specific vs general-purpose AI for subtle intraoperative warning signs in cataract surgery. medRxiv [Preprint]. 2026.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MNGHA. BeyondVision Hackathon: rules and conditions. 2026.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data, and validation 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public, licensed, expert-labelled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Cataract-1K: 1,000 videos, phase labels, pixel masks, pupil-reaction subset; CC BY 4.0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CaDIS: 4,670 masked frames including pupil and iris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Cataract-101: 101 phase-labelled videos, held out as the external test set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Cataract-LMM: about 3,000 videos with phase and segmentation layers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Tongren-Zonular-Video: 537 capsulorhexis clips labelled for radial folds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MNGHA data: adaptation and validation only, inside the sanctioned environment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set against published benchmarks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440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331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Published benchmark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recognition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90%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&gt;0.95 on Cataract-101 [10]; 85 to 96% across architectures [14]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Pupil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88 to 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Dice 90.2% local, 85.4% external [10]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Radial-fold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 about 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0.87, AUROC 0.96, task-specific model [9]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fps on a laptop 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fps reported with a dedicated system [10]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4206240"/>
            <a:ext cx="5440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reported: per-marker precision, recall, F1, lead time in seconds, false alerts per case, record factual accuracy by field matching, latency per frame. Video-level splits, never frame-level, to prevent leakage.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4937760"/>
            <a:ext cx="11292840" cy="868680"/>
          </a:xfrm>
          <a:prstGeom prst="roundRect">
            <a:avLst>
              <a:gd name="adj" fmla="val 10526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4983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detecting rupture itself is hard (published PCR F1 0.61)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</a:t>
            </a:r>
            <a:r>
              <a:rPr lang="en-US" sz="12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PhacoGuard reports calibrated risk awareness, not diagnosis. Saudi tuning is a design claim until local surgical video is validated; if released on hackathon day, before-and-after results on Saudi eyes will be shown.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5943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Zhang Y, et al. Task-specific vs general-purpose AI for subtle intraoperative warning signs in cataract surgery. medRxiv [Preprint]. 2026.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Garcia Nespolo R, et al. AI-based intraoperative guidance tools for phacoemulsification. JAMA Ophthalmol. 2022;140:170-7.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Sachdeva B, et al. CataractCompDetect: intraoperative complication detection in cataract surgery. arXiv [Preprint]. 2025.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Ghamsarian N, et al. Cataract-1K dataset for deep-learning-assisted analysis of cataract surgery videos. Sci Data. 2024;11:373.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Grammatikopoulou M, et al. CaDIS: cataract dataset for surgical RGB-image segmentation. Med Image Anal. 2021;71:102053.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5943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Schoeffmann K, et al. Cataract-101: video dataset of 101 cataract surgeries. ACM MMSys; 2018.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Ahmadi MJ, et al. Cataract-LMM: multi-source multi-task benchmark for surgical video analysis. Sci Data. 2026.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Chen L. Tongren-Zonular-Video dataset. Hugging Face; 2026.</a:t>
            </a:r>
            <a:endParaRPr lang="en-US" sz="7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MNGHA. BeyondVision Hackathon: rules and conditions. 2026.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value and compliance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Surgeons: an objective second observer in the minutes when a case turns complex, with time to deploy a pupil-expansion device or capsular tension ring</a:t>
            </a:r>
            <a:r>
              <a:rPr lang="en-US" sz="130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Patients: fewer ruptures, vitreous losses, and second operations; follow-up intensity matched to the intraoperative risk actually observed.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MNGHA: a departmental record of complexity and risk events for audit, list planning, and trainee case allocation.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Measurable: per-marker lead time and false alerts per case; proportion of high-risk records that change follow-up scheduling.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by design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783080"/>
            <a:ext cx="54406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prototype for surgeon awareness, never guidance (hackathon rule 5.3); no clinical data to external APIs (rule 5.2); institutional data only in the sanctioned environment (rules 4.1, 4.2)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</a:t>
            </a: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SFDA MDS-G010, the Kingdom's binding guidance for AI and ML based medical devices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[19][20]</a:t>
            </a: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Vision 2030 Health Sector Transformation goals for quality and patient safety</a:t>
            </a:r>
            <a:r>
              <a:rPr lang="en-US" sz="1250" baseline="30000" dirty="0">
                <a:solidFill>
                  <a:srgbClr val="1F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</a:t>
            </a: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pipeline declared at registration; adaptation and validation on MNGHA data are the in-event work (rule 3.2). Generative AI use disclosed (rule 5.1).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Permissive licences throughout: Apache 2.0, MIT, BSD, CC BY 4.0 data.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943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Vazquez-Ferreiro P, et al. Intraoperative complications of phacoemulsification in pseudoexfoliation: metaanalysis. J Cataract Refract Surg. 2016;42:1666-75.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Solaiman B. Regulating AI-based medical devices in Saudi Arabia. Asian Bioeth Rev. 2024.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Saudi Food and Drug Authority. Guidance on AI/ML based medical devices (MDS-G010). 2023.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Saudi Vision 2030. Health Sector Transformation Program.</a:t>
            </a:r>
            <a:endParaRPr lang="en-US" sz="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MNGHA. BeyondVision Hackathon: rules and conditions. 2026.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411480" cy="41148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AI and software engineers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vision, real-time pipelines, on-premise LLM deployment, offline packaging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4173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600200"/>
            <a:ext cx="411480" cy="41148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clinical lead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514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training, MNGHA research access, hardware and software prototyping; owns evaluation design and rules compliance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600200"/>
            <a:ext cx="411480" cy="411480"/>
          </a:xfrm>
          <a:prstGeom prst="ellipse">
            <a:avLst/>
          </a:prstGeom>
          <a:solidFill>
            <a:srgbClr val="0B4F5C"/>
          </a:solidFill>
          <a:ln w="12700">
            <a:solidFill>
              <a:srgbClr val="0B4F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medical experts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514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risk markers, adjudicate the external test set, validate the clinical framing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41732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F4F6F7"/>
          </a:solidFill>
          <a:ln w="12700">
            <a:solidFill>
              <a:srgbClr val="F4F6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0" y="1600200"/>
            <a:ext cx="411480" cy="411480"/>
          </a:xfrm>
          <a:prstGeom prst="ellipse">
            <a:avLst/>
          </a:prstGeom>
          <a:solidFill>
            <a:srgbClr val="E8A317"/>
          </a:solidFill>
          <a:ln w="12700">
            <a:solidFill>
              <a:srgbClr val="E8A3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21031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MNGHA clinical mentor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25146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for marker validation and hackathon-day adjudication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to 12 Oct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5262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validate on public data; package the offline demo; declare pre-built work at registration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51960" y="406908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Oct: hackathon day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45262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and validate on MNGHA data inside the sanctioned environment; live demonstration; mentor survey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46720" y="406908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B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hackathon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5262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IRB-approved prospective validation on MNGHA video; departmental pilot; foundation for the first Saudi surgical-video AI dataset; IP review with MNGHA Innovation Division and KAIMRC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(1 of 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Vancouver style. References 9 and 12 are preprints and not yet peer reviewed.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Cicinelli MV, Buchan JC, Nicholson M, Varadaraj V, Khanna RC. Cataracts. Lancet. 2023;401(10374):377-89. doi:10.1016/S0140-6736(22)01839-6 https://www.sciencedirect.com/science/article/abs/pii/S0140673622018396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Chen X, Xu J, Chen X, Yao K. Cataract: advances in surgery and whether surgery remains the only treatment in future. Adv Ophthalmol Pract Res. 2021;1(1):100008. doi:10.1016/j.aopr.2021.100008 https://pmc.ncbi.nlm.nih.gov/articles/PMC10577864/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Narendran N, Jaycock P, Johnston RL, Taylor H, Adams M, Tole DM, et al. The Cataract National Dataset electronic multicentre audit of 55 567 operations: risk stratification for posterior capsule rupture and vitreous loss. Eye (Lond). 2009;23(1):31-7. doi:10.1038/sj.eye.6703049 https://www.nature.com/articles/6703049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Royal College of Ophthalmologists. National Ophthalmology Database Audit: National Cataract Audit annual report, 1 April 2021 to 31 March 2022. London: RCOphth; 2024. https://nodaudit.org.uk/healthcare-professionals/publications-news-and-events/national-cataract-audit-annual-report-01-0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Fairaq R, Almuwarraee SM, Almatrafi SA, Alghamdi WS, Maawadh L, Khandekar R, et al. Impact of surgical complexity and surgeon experience on phacoemulsification outcomes: a one-year retrospective study from a Saudi tertiary eye hospital. Front Ophthalmol. 2026;6:1882657. doi:10.3389/fopht.2026.1882657 https://www.frontiersin.org/journals/ophthalmology/articles/10.3389/fopht.2026.1882657/abstract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Gabr AF. Pseudoexfoliation cataract: possible systemic associations. Delta J Ophthalmol. 2016;17(3):133-6. doi:10.4103/1110-9173.195265 https://doaj.org/article/6a6486b0b7704a72a7ec607ef34351f3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Al-Saleh SA, Al-Dabbagh NM, Al-Shamrani SM, Khan NM, Arfin M, Tariq M, et al. Prevalence of ocular pseudoexfoliation syndrome and associated complications in Riyadh, Saudi Arabia. Saudi Med J. 2015;36(1):108-12. doi:10.15537/smj.2015.1.9121 https://pmc.ncbi.nlm.nih.gov/articles/PMC4362197/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Vazquez-Ferreiro P, Carrera-Hueso FJ, Poquet Jornet JE, Fikri-Benbrahim N, Diaz-Rey M, Sanjuan-Cervero R. Intraoperative complications of phacoemulsification in pseudoexfoliation: metaanalysis. J Cataract Refract Surg. 2016;42(11):1666-75. doi:10.1016/j.jcrs.2016.09.010 https://pubmed.ncbi.nlm.nih.gov/27956295/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Zhang Y, Chen L, Zhao W, Zhang H, Qiao C, Liu Z, et al. Automated task-specific vs general-purpose artificial intelligence for detecting subtle intraoperative warning signs during cataract surgery: a multicenter diagnostic study. medRxiv [Preprint]. 2026. doi:10.64898/2026.01.15.26344200 https://www.medrxiv.org/content/10.64898/2026.01.15.26344200v3.full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Garcia Nespolo R, Yi D, Cole E, Valikodath N, Luciano C, Leiderman YI. Evaluation of artificial intelligence-based intraoperative guidance tools for phacoemulsification cataract surgery. JAMA Ophthalmol. 2022;140(2):170-7. doi:10.1001/jamaophthalmol.2021.5742 https://pmc.ncbi.nlm.nih.gov/articles/PMC8855235/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Chen X, Liu J, Liang H, et al. Digitalization of surgical features improves surgical accuracy via surgeon guidance and robotization. NPJ Digit Med. 2025;8:497. doi:10.1038/s41746-025-01887-6 https://www.nature.com/articles/s41746-025-01887-6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4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(2 of 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Vancouver style. References 9 and 12 are preprints and not yet peer reviewed.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Sachdeva B, Kumari S, Agarwal R, Kumaraswamy S, Prasad NS, Mueller S, et al. CataractCompDetect: intraoperative complication detection in cataract surgery. arXiv [Preprint]. 2025. arXiv:2511.18968 https://arxiv.org/abs/2511.18968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Morita S, Tabuchi H, Masumoto H, Tanabe H, Kamiura N. Real-time surgical problem detection and instrument tracking in cataract surgery. J Clin Med. 2020;9(12):3896. doi:10.3390/jcm9123896 https://www.mdpi.com/2077-0383/9/12/3896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Ghamsarian N, El-Shabrawi Y, Nasirihaghighi S, Putzgruber-Adamitsch D, Zinkernagel M, Wolf S, et al. Cataract-1K dataset for deep-learning-assisted analysis of cataract surgery videos. Sci Data. 2024;11:373. doi:10.1038/s41597-024-03193-4 https://www.nature.com/articles/s41597-024-03193-4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Grammatikopoulou M, Flouty E, Kadkhodamohammadi A, Quellec G, Chow A, Nehme J, et al. CaDIS: cataract dataset for surgical RGB-image segmentation. Med Image Anal. 2021;71:102053. doi:10.1016/j.media.2021.102053 https://arxiv.org/abs/1906.11586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Schoeffmann K, Taschwer M, Sarny S, Munzer B, Primus MJ, Putzgruber D. Cataract-101: video dataset of 101 cataract surgeries. In: Proceedings of the 9th ACM Multimedia Systems Conference (MMSys 2018). New York: ACM; 2018. p. 421-5. https://dl.acm.org/doi/10.1145/3204949.3208137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Ahmadi MJ, Gandomi I, Abdi P, Mohammadi SF, Taslimi A, Khodaparast M, et al. Cataract-LMM: large-scale multi-source multi-task benchmark for deep learning in surgical video analysis. Sci Data. 2026. doi:10.1038/s41597-026-07464-0 https://arxiv.org/abs/2510.16371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Chen L. Tongren-Zonular-Video: zonular instability video dataset [Internet]. Hugging Face; 2026 [cited 2026 Sep 19]. https://huggingface.co/datasets/leonChen/Tongren-Zonular-Video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 Solaiman B. Regulating AI-based medical devices in Saudi Arabia: new legal paradigms in an evolving global legal order. Asian Bioeth Rev. 2024. doi:10.1007/s41649-024-00285-6 https://link.springer.com/article/10.1007/s41649-024-00285-6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Saudi Food and Drug Authority. Guidance on artificial intelligence (AI) and machine learning (ML) based medical devices (MDS-G010). Riyadh: SFDA; 2023. https://www.sfda.gov.sa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 Saudi Vision 2030. Health Sector Transformation Program [Internet]. Riyadh: Vision 2030; [cited 2026 Sep 19]. https://www.vision2030.gov.sa/en/explore/programs/health-sector-transformation-program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B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 Ministry of National Guard Health Affairs. BeyondVision MNGHA Hackathon: rules and conditions [Internet]. Riyadh: MNGHA; 2026 [cited 2026 Sep 19]. https://beyondvisionmngha.com/rules/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F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PhacoGuard</dc:title>
  <dc:subject>PptxGenJS Presentation</dc:subject>
  <dc:creator>PptxGenJS</dc:creator>
  <cp:lastModifiedBy>PptxGenJS</cp:lastModifiedBy>
  <cp:revision>1</cp:revision>
  <dcterms:created xsi:type="dcterms:W3CDTF">2026-09-19T01:57:44Z</dcterms:created>
  <dcterms:modified xsi:type="dcterms:W3CDTF">2026-09-19T01:57:44Z</dcterms:modified>
</cp:coreProperties>
</file>